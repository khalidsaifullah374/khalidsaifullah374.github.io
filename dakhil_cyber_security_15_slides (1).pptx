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5D7A"/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সাইবার নিরাপত্তা • দাখিল পর্যায়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6492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নিরাপদ ডিজিটাল জীবন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সাইবার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নিরাপত্তা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13232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DE8E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দাখিল পর্যায়ের শিক্ষার্থীদের জন্য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3232" y="36576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সচেতনতা • নিরাপদ ব্যবহার • দায়িত্বশীল আচরণ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0" y="1920240"/>
            <a:ext cx="3543300" cy="2171700"/>
          </a:xfrm>
          <a:prstGeom prst="roundRect">
            <a:avLst/>
          </a:prstGeom>
          <a:solidFill>
            <a:srgbClr val="263746"/>
          </a:solidFill>
          <a:ln w="12700">
            <a:solidFill>
              <a:srgbClr val="2637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09410" y="2080260"/>
            <a:ext cx="3200400" cy="1771650"/>
          </a:xfrm>
          <a:prstGeom prst="rect">
            <a:avLst/>
          </a:prstGeom>
          <a:solidFill>
            <a:srgbClr val="DDF4F6"/>
          </a:solidFill>
          <a:ln w="12700">
            <a:solidFill>
              <a:srgbClr val="DD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2210" y="3977640"/>
            <a:ext cx="4114800" cy="514350"/>
          </a:xfrm>
          <a:prstGeom prst="trapezoid">
            <a:avLst/>
          </a:prstGeom>
          <a:solidFill>
            <a:srgbClr val="8197A3"/>
          </a:solidFill>
          <a:ln w="12700">
            <a:solidFill>
              <a:srgbClr val="819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7360920" y="1508760"/>
            <a:ext cx="2628900" cy="2971800"/>
          </a:xfrm>
          <a:prstGeom prst="hexagon">
            <a:avLst/>
          </a:prstGeom>
          <a:solidFill>
            <a:srgbClr val="0B5D7A">
              <a:alpha val="95000"/>
            </a:srgbClr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2137410"/>
            <a:ext cx="914400" cy="971550"/>
          </a:xfrm>
          <a:prstGeom prst="arc">
            <a:avLst/>
          </a:prstGeom>
          <a:solidFill>
            <a:srgbClr val="FFFFFF">
              <a:alpha val="0"/>
            </a:srgbClr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69580" y="2834640"/>
            <a:ext cx="1234440" cy="9372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72500" y="3143250"/>
            <a:ext cx="228600" cy="228600"/>
          </a:xfrm>
          <a:prstGeom prst="ellipse">
            <a:avLst/>
          </a:prstGeom>
          <a:solidFill>
            <a:srgbClr val="0B5D7A"/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12680" y="3337560"/>
            <a:ext cx="1069848" cy="1925726"/>
          </a:xfrm>
          <a:prstGeom prst="roundRect">
            <a:avLst/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98268" y="3494471"/>
            <a:ext cx="898672" cy="1533449"/>
          </a:xfrm>
          <a:prstGeom prst="roundRect">
            <a:avLst/>
          </a:prstGeom>
          <a:solidFill>
            <a:srgbClr val="DFF4F7"/>
          </a:solidFill>
          <a:ln w="12700">
            <a:solidFill>
              <a:srgbClr val="DFF4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76281" y="5106375"/>
            <a:ext cx="142646" cy="142646"/>
          </a:xfrm>
          <a:prstGeom prst="ellipse">
            <a:avLst/>
          </a:prstGeom>
          <a:solidFill>
            <a:srgbClr val="9DB2BE"/>
          </a:solidFill>
          <a:ln w="12700">
            <a:solidFill>
              <a:srgbClr val="9DB2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731520"/>
            <a:ext cx="5394960" cy="5394960"/>
          </a:xfrm>
          <a:prstGeom prst="ellipse">
            <a:avLst/>
          </a:prstGeom>
          <a:solidFill>
            <a:srgbClr val="D9F0F4">
              <a:alpha val="72000"/>
            </a:srgbClr>
          </a:solidFill>
          <a:ln w="12700">
            <a:solidFill>
              <a:srgbClr val="D9F0F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5257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অনলাইনে নিরাপদ থাকি,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নিজে সচেতন হই—অন্যকেও সচেতন করি।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আজকের শেখার লক্ষ্য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48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ক্লাস শেষে আমরা যা জানতে ও করতে পারব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73152" cy="1737360"/>
          </a:xfrm>
          <a:prstGeom prst="rect">
            <a:avLst/>
          </a:prstGeom>
          <a:solidFill>
            <a:srgbClr val="18A6B8"/>
          </a:solidFill>
          <a:ln w="12700">
            <a:solidFill>
              <a:srgbClr val="18A6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733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সাইবার নিরাপত্তা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216712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এর অর্থ ও প্রয়োজন বুঝব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508760"/>
            <a:ext cx="73152" cy="17373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6733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ঝুঁকি চিনব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19088" y="216712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ফিশিং, ম্যালওয়্যার, প্রতারণা শনাক্ত করব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65760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657600"/>
            <a:ext cx="73152" cy="1737360"/>
          </a:xfrm>
          <a:prstGeom prst="rect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8221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নিজেকে রক্ষা করব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968" y="431596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পাসওয়ার্ড, 2FA ও গোপনীয়তা ব্যবহার করব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657600"/>
            <a:ext cx="73152" cy="1737360"/>
          </a:xfrm>
          <a:prstGeom prst="rect">
            <a:avLst/>
          </a:prstGeom>
          <a:solidFill>
            <a:srgbClr val="0B5D7A"/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8221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দায়িত্বশীল হব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19088" y="431596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সাইবার বুলিং ও অনলাইন আচরণ বুঝব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সাইবার নিরাপত্তা কী?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64008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কম্পিউটার, মোবাইল, অনলাইন অ্যাকাউন্ট, তথ্য ও নেটওয়ার্ককে অননুমোদিত প্রবেশ, ক্ষতি, চুরি বা প্রতারণা থেকে সুরক্ষিত রাখার প্রক্রিয়াই সাইবার নিরাপত্তা।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 rot="5400000">
            <a:off x="8412480" y="1508760"/>
            <a:ext cx="2523744" cy="2852928"/>
          </a:xfrm>
          <a:prstGeom prst="hexagon">
            <a:avLst/>
          </a:prstGeom>
          <a:solidFill>
            <a:srgbClr val="0B5D7A">
              <a:alpha val="95000"/>
            </a:srgbClr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46413" y="2112264"/>
            <a:ext cx="877824" cy="932688"/>
          </a:xfrm>
          <a:prstGeom prst="arc">
            <a:avLst/>
          </a:prstGeom>
          <a:solidFill>
            <a:srgbClr val="FFFFFF">
              <a:alpha val="0"/>
            </a:srgbClr>
          </a:solidFill>
          <a:ln w="6096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92794" y="2781605"/>
            <a:ext cx="1185062" cy="8997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75597" y="3077870"/>
            <a:ext cx="219456" cy="219456"/>
          </a:xfrm>
          <a:prstGeom prst="ellipse">
            <a:avLst/>
          </a:prstGeom>
          <a:solidFill>
            <a:srgbClr val="0B5D7A"/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4069080"/>
            <a:ext cx="2551176" cy="1563624"/>
          </a:xfrm>
          <a:prstGeom prst="roundRect">
            <a:avLst/>
          </a:prstGeom>
          <a:solidFill>
            <a:srgbClr val="263746"/>
          </a:solidFill>
          <a:ln w="12700">
            <a:solidFill>
              <a:srgbClr val="2637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41564" y="4184294"/>
            <a:ext cx="2304288" cy="1275588"/>
          </a:xfrm>
          <a:prstGeom prst="rect">
            <a:avLst/>
          </a:prstGeom>
          <a:solidFill>
            <a:srgbClr val="DDF4F6"/>
          </a:solidFill>
          <a:ln w="12700">
            <a:solidFill>
              <a:srgbClr val="DD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12380" y="5550408"/>
            <a:ext cx="2962656" cy="370332"/>
          </a:xfrm>
          <a:prstGeom prst="trapezoid">
            <a:avLst/>
          </a:prstGeom>
          <a:solidFill>
            <a:srgbClr val="8197A3"/>
          </a:solidFill>
          <a:ln w="12700">
            <a:solidFill>
              <a:srgbClr val="8197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3794760"/>
            <a:ext cx="891540" cy="1604772"/>
          </a:xfrm>
          <a:prstGeom prst="roundRect">
            <a:avLst/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04043" y="3925519"/>
            <a:ext cx="748894" cy="1277874"/>
          </a:xfrm>
          <a:prstGeom prst="roundRect">
            <a:avLst/>
          </a:prstGeom>
          <a:solidFill>
            <a:srgbClr val="DFF4F7"/>
          </a:solidFill>
          <a:ln w="12700">
            <a:solidFill>
              <a:srgbClr val="DFF4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19054" y="5268773"/>
            <a:ext cx="118872" cy="118872"/>
          </a:xfrm>
          <a:prstGeom prst="ellipse">
            <a:avLst/>
          </a:prstGeom>
          <a:solidFill>
            <a:srgbClr val="9DB2BE"/>
          </a:solidFill>
          <a:ln w="12700">
            <a:solidFill>
              <a:srgbClr val="9DB2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023360"/>
            <a:ext cx="5852160" cy="109728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CF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3251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D7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মূল কথা: “তথ্য নিরাপদ + ডিভাইস নিরাপদ + ব্যবহারকারী সচেতন”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অনলাইনে প্রধান ঝুঁকিগুলো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73152" cy="160020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81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ফিশিং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0756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ভুয়া লিংক/মেসেজে তথ্য চুরি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62272" y="1417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62272" y="1417320"/>
            <a:ext cx="73152" cy="16002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581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ম্যালওয়্যার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20756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ক্ষতিকর সফটওয়্যার বা অ্যাপ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84464" y="1417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84464" y="1417320"/>
            <a:ext cx="73152" cy="1600200"/>
          </a:xfrm>
          <a:prstGeom prst="rect">
            <a:avLst/>
          </a:prstGeom>
          <a:solidFill>
            <a:srgbClr val="0B5D7A"/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581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অ্যাকাউন্ট হ্যাক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85632" y="20756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দুর্বল পাসওয়ার্ডের সুযোগ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474720"/>
            <a:ext cx="73152" cy="1600200"/>
          </a:xfrm>
          <a:prstGeom prst="rect">
            <a:avLst/>
          </a:prstGeom>
          <a:solidFill>
            <a:srgbClr val="18A6B8"/>
          </a:solidFill>
          <a:ln w="12700">
            <a:solidFill>
              <a:srgbClr val="18A6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6393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সাইবার বুলিং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41330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অনলাইনে অপমান/হয়রানি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462272" y="34747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62272" y="3474720"/>
            <a:ext cx="73152" cy="1600200"/>
          </a:xfrm>
          <a:prstGeom prst="rect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6393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ভুয়া তথ্য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41330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গুজব ও বিভ্রান্তিকর কনটেন্ট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84464" y="34747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84464" y="3474720"/>
            <a:ext cx="73152" cy="160020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85632" y="36393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পরিচয় চুরি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85632" y="41330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ছবি/তথ্য ব্যবহার করে প্রতারণা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ফিশিং: ভুয়া বার্তা চিনবেন কীভাবে?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48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ইমেইল, SMS, Messenger বা WhatsApp—যেকোনো জায়গায় হতে পারে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0" y="1325880"/>
            <a:ext cx="4206240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1691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534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জরুরি! আপনার অ্যাকাউন্ট বন্ধ হবে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52360" y="2331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এখনই নিচের লিংকে ক্লিক করে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পাসওয়ার্ড দিন।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18120" y="3337560"/>
            <a:ext cx="2560320" cy="502920"/>
          </a:xfrm>
          <a:prstGeom prst="round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0" y="3456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NOW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966960" y="3886200"/>
            <a:ext cx="1024128" cy="914400"/>
          </a:xfrm>
          <a:prstGeom prst="triangle">
            <a:avLst/>
          </a:prstGeom>
          <a:solidFill>
            <a:srgbClr val="F4B942"/>
          </a:solidFill>
          <a:ln w="12700">
            <a:solidFill>
              <a:srgbClr val="D49A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25405" y="4069080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1463040"/>
            <a:ext cx="58521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প্রেরকের ঠিকানা/নাম অস্বাভাবিক কি না দেখুন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“এখনই করুন” ধরনের ভয় বা চাপ সৃষ্টি করছে কি না দেখুন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লিংকে ক্লিকের আগে ঠিকানা যাচাই করুন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OTP, PIN বা পাসওয়ার্ড কখনো কাউকে দেবেন না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শক্তিশালী পাসওয়ার্ড ও 2FA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48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একটি ভালো পাসওয়ার্ড আপনার প্রথম প্রতিরক্ষা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8E6E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ভালো পাসওয়ার্ড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516636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দীর্ঘ ও মনে রাখার মতো পাসফ্রেজ ব্যবহার করুন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একই পাসওয়ার্ড সব অ্যাকাউন্টে ব্যবহার করবেন না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নাম, জন্মতারিখ, 123456 এড়িয়ে চলুন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সম্ভব হলে Password Manager ব্যবহার করুন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46520" y="1554480"/>
            <a:ext cx="4572000" cy="96012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CF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1847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উদাহরণ:  Nodi!Pahar#27Boi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46520" y="2880360"/>
            <a:ext cx="4572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880360"/>
            <a:ext cx="73152" cy="1600200"/>
          </a:xfrm>
          <a:prstGeom prst="rect">
            <a:avLst/>
          </a:prstGeom>
          <a:solidFill>
            <a:srgbClr val="18A6B8"/>
          </a:solidFill>
          <a:ln w="12700">
            <a:solidFill>
              <a:srgbClr val="18A6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7688" y="304495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2FA / Two-Factor Authentication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47688" y="353872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পাসওয়ার্ডের পাশাপাশি OTP/Authenticator কোড চাইলে অ্যাকাউন্ট আরও সুরক্ষিত থাকে।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424160" y="4754880"/>
            <a:ext cx="623621" cy="623621"/>
          </a:xfrm>
          <a:prstGeom prst="ellipse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04627" y="4774997"/>
            <a:ext cx="462686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সামাজিক যোগাযোগমাধ্যমে গোপনীয়তা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412480" y="1463040"/>
            <a:ext cx="1783080" cy="3209544"/>
          </a:xfrm>
          <a:prstGeom prst="roundRect">
            <a:avLst/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55126" y="1724558"/>
            <a:ext cx="1497787" cy="2555748"/>
          </a:xfrm>
          <a:prstGeom prst="roundRect">
            <a:avLst/>
          </a:prstGeom>
          <a:solidFill>
            <a:srgbClr val="DFF4F7"/>
          </a:solidFill>
          <a:ln w="12700">
            <a:solidFill>
              <a:srgbClr val="DF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5148" y="4411066"/>
            <a:ext cx="237744" cy="237744"/>
          </a:xfrm>
          <a:prstGeom prst="ellipse">
            <a:avLst/>
          </a:prstGeom>
          <a:solidFill>
            <a:srgbClr val="9DB2BE"/>
          </a:solidFill>
          <a:ln w="12700">
            <a:solidFill>
              <a:srgbClr val="9DB2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006840" y="1828800"/>
            <a:ext cx="1997964" cy="2258568"/>
          </a:xfrm>
          <a:prstGeom prst="hexagon">
            <a:avLst/>
          </a:prstGeom>
          <a:solidFill>
            <a:srgbClr val="0B5D7A">
              <a:alpha val="95000"/>
            </a:srgbClr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67037" y="2306574"/>
            <a:ext cx="694944" cy="738378"/>
          </a:xfrm>
          <a:prstGeom prst="arc">
            <a:avLst/>
          </a:prstGeom>
          <a:solidFill>
            <a:srgbClr val="FFFFFF">
              <a:alpha val="0"/>
            </a:srgbClr>
          </a:solidFill>
          <a:ln w="4826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45422" y="2836469"/>
            <a:ext cx="938174" cy="7123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7641" y="3071012"/>
            <a:ext cx="173736" cy="173736"/>
          </a:xfrm>
          <a:prstGeom prst="ellipse">
            <a:avLst/>
          </a:prstGeom>
          <a:solidFill>
            <a:srgbClr val="0B5D7A"/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17320"/>
            <a:ext cx="649224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প্রোফাইলের Privacy Settings নিয়মিত দেখুন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ফোন নম্বর, ঠিকানা, জন্মতারিখ—অপ্রয়োজনে প্রকাশ করবেন না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অপরিচিত Friend/Follow request গ্রহণে সতর্ক থাকুন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লাইভ লোকেশন বা দৈনন্দিন রুটিন প্রকাশ করবেন না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ছবি পোস্টের আগে অন্যের সম্মতি নিন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78040" y="49377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D7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ভাবুন → যাচাই করুন → তারপর পোস্ট করুন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ম্যালওয়্যার ও ক্ষতিকর অ্যাপ থেকে বাঁচুন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0" y="1508760"/>
            <a:ext cx="3259836" cy="1997964"/>
          </a:xfrm>
          <a:prstGeom prst="roundRect">
            <a:avLst/>
          </a:prstGeom>
          <a:solidFill>
            <a:srgbClr val="263746"/>
          </a:solidFill>
          <a:ln w="12700">
            <a:solidFill>
              <a:srgbClr val="2637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0134" y="1655978"/>
            <a:ext cx="2944368" cy="1629918"/>
          </a:xfrm>
          <a:prstGeom prst="rect">
            <a:avLst/>
          </a:prstGeom>
          <a:solidFill>
            <a:srgbClr val="DDF4F6"/>
          </a:solidFill>
          <a:ln w="12700">
            <a:solidFill>
              <a:srgbClr val="DD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09510" y="3401568"/>
            <a:ext cx="3785616" cy="473202"/>
          </a:xfrm>
          <a:prstGeom prst="trapezoid">
            <a:avLst/>
          </a:prstGeom>
          <a:solidFill>
            <a:srgbClr val="8197A3"/>
          </a:solidFill>
          <a:ln w="12700">
            <a:solidFill>
              <a:srgbClr val="8197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1691640"/>
            <a:ext cx="1408176" cy="1257300"/>
          </a:xfrm>
          <a:prstGeom prst="triangle">
            <a:avLst/>
          </a:prstGeom>
          <a:solidFill>
            <a:srgbClr val="F4B942"/>
          </a:solidFill>
          <a:ln w="12700">
            <a:solidFill>
              <a:srgbClr val="D49A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59822" y="1943100"/>
            <a:ext cx="402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621792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অজানা ওয়েবসাইট থেকে সফটওয়্যার/গেম ডাউনলোড করবেন না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অ্যাপ ইনস্টলের আগে Publisher ও Permission দেখুন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অপারেটিং সিস্টেম ও অ্যাপ নিয়মিত Update করুন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বিশ্বস্ত Antivirus/Device Security চালু রাখুন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সন্দেহজনক USB বা ফাইল খুলবেন না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98080" y="406908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0" y="4069080"/>
            <a:ext cx="73152" cy="114300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99248" y="423367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সতর্ক সংকেত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99248" y="47274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হঠাৎ ফোন ধীর হওয়া, অচেনা অ্যাপ, অস্বাভাবিক বিজ্ঞাপন বা ডেটা খরচ।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নিরাপদ ওয়েব ব্রাউজিং ও ডাউনলোড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17320"/>
            <a:ext cx="73152" cy="914400"/>
          </a:xfrm>
          <a:prstGeom prst="rect">
            <a:avLst/>
          </a:prstGeom>
          <a:solidFill>
            <a:srgbClr val="0B5D7A"/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581912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ওয়েব ঠিকানা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8408" y="2075688"/>
            <a:ext cx="6172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সঠিক বানান ও HTTPS/তালা চিহ্ন দেখুন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560320"/>
            <a:ext cx="73152" cy="914400"/>
          </a:xfrm>
          <a:prstGeom prst="rect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724912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ডাউনলোড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" y="3218688"/>
            <a:ext cx="6172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অফিশিয়াল/বিশ্বস্ত উৎস ব্যবহার করুন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703320"/>
            <a:ext cx="73152" cy="9144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867912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পপ-আপ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8408" y="4361688"/>
            <a:ext cx="6172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“You won!” / “Virus found!”—এ ধরনের বার্তায় ক্লিক নয়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484632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846320"/>
            <a:ext cx="73152" cy="91440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5010912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লগইন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8408" y="5504688"/>
            <a:ext cx="6172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শেয়ার করা কম্পিউটারে কাজ শেষে Sign out করুন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909560" y="1600200"/>
            <a:ext cx="3154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09560" y="1600200"/>
            <a:ext cx="3154680" cy="411480"/>
          </a:xfrm>
          <a:prstGeom prst="rect">
            <a:avLst/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331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E8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https://school.edu.bd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0" y="4206240"/>
            <a:ext cx="793699" cy="793699"/>
          </a:xfrm>
          <a:prstGeom prst="ellipse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46413" y="4231843"/>
            <a:ext cx="588874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পাবলিক Wi‑Fi ও শেয়ারড ডিভাইসে সতর্কতা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0" y="1463040"/>
            <a:ext cx="2926080" cy="2377440"/>
          </a:xfrm>
          <a:prstGeom prst="arc">
            <a:avLst/>
          </a:prstGeom>
          <a:solidFill>
            <a:srgbClr val="FFFFFF">
              <a:alpha val="0"/>
            </a:srgbClr>
          </a:solidFill>
          <a:ln w="101600">
            <a:solidFill>
              <a:srgbClr val="18A6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965960"/>
            <a:ext cx="1920240" cy="1554480"/>
          </a:xfrm>
          <a:prstGeom prst="arc">
            <a:avLst/>
          </a:prstGeom>
          <a:solidFill>
            <a:srgbClr val="FFFFFF">
              <a:alpha val="0"/>
            </a:srgbClr>
          </a:solidFill>
          <a:ln w="101600">
            <a:solidFill>
              <a:srgbClr val="18A6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3383280"/>
            <a:ext cx="411480" cy="411480"/>
          </a:xfrm>
          <a:prstGeom prst="ellipse">
            <a:avLst/>
          </a:prstGeom>
          <a:solidFill>
            <a:srgbClr val="18A6B8"/>
          </a:solidFill>
          <a:ln w="12700">
            <a:solidFill>
              <a:srgbClr val="18A6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3200400"/>
            <a:ext cx="1088136" cy="971550"/>
          </a:xfrm>
          <a:prstGeom prst="triangle">
            <a:avLst/>
          </a:prstGeom>
          <a:solidFill>
            <a:srgbClr val="F4B942"/>
          </a:solidFill>
          <a:ln w="12700">
            <a:solidFill>
              <a:srgbClr val="D49A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30688" y="3394710"/>
            <a:ext cx="3108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640080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ফ্রি Wi‑Fi-তে ব্যাংকিং/গুরুত্বপূর্ণ লগইন এড়িয়ে চলুন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অপরিচিত Wi‑Fi নাম দেখে তাড়াহুড়ো করে যুক্ত হবেন না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Bluetooth ও Hotspot প্রয়োজন না হলে বন্ধ রাখুন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শেয়ারড কম্পিউটারে “Remember password” নির্বাচন করবেন না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কাজ শেষে Logout এবং Download করা ফাইল মুছে ফেলুন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সাইবার বুলিং হলে কী করবেন?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48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অপমান, ভয় দেখানো, গুজব ছড়ানো বা অনুমতি ছাড়া ছবি ছড়ানো—এসবও ক্ষতিকর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417320" y="1600200"/>
            <a:ext cx="914400" cy="914400"/>
          </a:xfrm>
          <a:prstGeom prst="ellipse">
            <a:avLst/>
          </a:prstGeom>
          <a:solidFill>
            <a:srgbClr val="0B5D7A"/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প্রতিক্রিয়ায় ঝগড়া নয়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06240" y="1600200"/>
            <a:ext cx="914400" cy="9144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2044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প্রমাণ রাখুন—স্ক্রিনশট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95160" y="1600200"/>
            <a:ext cx="914400" cy="91440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৩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Block ও Report করুন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784080" y="1600200"/>
            <a:ext cx="914400" cy="914400"/>
          </a:xfrm>
          <a:prstGeom prst="ellipse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268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৪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অভিভাবক/শিক্ষককে জানান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97280" y="4389120"/>
            <a:ext cx="9875520" cy="9601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1D3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4681728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4B00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কাউকে লজ্জা দেওয়া বা ভয় দেখানো “মজা” নয়—ডিজিটাল জগতেও সম্মান ও শিষ্টাচার জরুরি।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ভুয়া খবর ও অনলাইন প্রতারণা যাচাই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4008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শিরোনাম দেখে সঙ্গে সঙ্গে Share করবেন না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বিশ্বস্ত সংবাদমাধ্যম/অফিশিয়াল উৎসে মিলিয়ে দেখুন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তারিখ, ছবি ও ওয়েবসাইটের নাম যাচাই করুন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“পুরস্কার পেয়েছেন”, “টাকা পাঠান”—এ ধরনের অফারে সতর্ক থাকুন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পরিবার/শিক্ষকের সঙ্গে সন্দেহজনক বিষয় আলোচনা করুন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35240" y="1417320"/>
            <a:ext cx="3657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NOW!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0" y="2606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“১০ মিনিটের মধ্যে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শেয়ার না করলে...”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0" y="3977640"/>
            <a:ext cx="793699" cy="793699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46413" y="3952037"/>
            <a:ext cx="588874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3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অ্যাকাউন্ট হ্যাক বা সন্দেহ হলে করণীয়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17320"/>
            <a:ext cx="73152" cy="150876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5819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১. পাসওয়ার্ড বদলান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20756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দ্রুত পদক্ষেপ নিন এবং একই পাসওয়ার্ড অন্য কোথাও থাকলে সেটিও বদলান।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0560" y="141732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80560" y="1417320"/>
            <a:ext cx="73152" cy="1508760"/>
          </a:xfrm>
          <a:prstGeom prst="rect">
            <a:avLst/>
          </a:prstGeom>
          <a:solidFill>
            <a:srgbClr val="0B5D7A"/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5819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২. সব ডিভাইস থেকে Logout করুন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81728" y="20756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দ্রুত পদক্ষেপ নিন এবং একই পাসওয়ার্ড অন্য কোথাও থাকলে সেটিও বদলান।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0" y="1417320"/>
            <a:ext cx="73152" cy="1508760"/>
          </a:xfrm>
          <a:prstGeom prst="rect">
            <a:avLst/>
          </a:prstGeom>
          <a:solidFill>
            <a:srgbClr val="18A6B8"/>
          </a:solidFill>
          <a:ln w="12700">
            <a:solidFill>
              <a:srgbClr val="18A6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15819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৩. 2FA চালু করুন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30768" y="20756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দ্রুত পদক্ষেপ নিন এবং একই পাসওয়ার্ড অন্য কোথাও থাকলে সেটিও বদলান।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342900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429000"/>
            <a:ext cx="73152" cy="1508760"/>
          </a:xfrm>
          <a:prstGeom prst="rect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5935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৪. Recovery email/phone যাচাই করুন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" y="40873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দ্রুত পদক্ষেপ নিন এবং একই পাসওয়ার্ড অন্য কোথাও থাকলে সেটিও বদলান।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480560" y="342900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3429000"/>
            <a:ext cx="73152" cy="15087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5935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৫. বিশ্বস্ত বড়দের জানান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81728" y="40873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দ্রুত পদক্ষেপ নিন এবং একই পাসওয়ার্ড অন্য কোথাও থাকলে সেটিও বদলান।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29600" y="342900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9050" dist="50800" dir="2700000">
              <a:srgbClr val="B7C9D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0" y="3429000"/>
            <a:ext cx="73152" cy="150876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0768" y="35935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৬. প্রয়োজনে প্ল্যাটফর্মে Report করুন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30768" y="40873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দ্রুত পদক্ষেপ নিন এবং একই পাসওয়ার্ড অন্য কোথাও থাকলে সেটিও বদলান।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ক্লাস অ্যাক্টিভিটি: নিরাপদ না ঝুঁকিপূর্ণ?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48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প্রতিটি পরিস্থিতি দেখে সিদ্ধান্ত দিন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7406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276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বন্ধু OTP চাইছে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534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ঝুঁকিপূর্ণ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7406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066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অফিশিয়াল অ্যাপ স্টোর থেকে অ্যাপ নেওয়া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679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E6E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নিরাপদ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575304"/>
            <a:ext cx="7406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7856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একই পাসওয়ার্ড সবখানে ব্যবহার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0" y="3758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534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ঝুঁকিপূর্ণ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654296"/>
            <a:ext cx="7406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8646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অপরিচিত লিংক যাচাই না করে খোলা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48371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534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ঝুঁকিপূর্ণ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 rot="5400000">
            <a:off x="9144000" y="2011680"/>
            <a:ext cx="2103120" cy="2377440"/>
          </a:xfrm>
          <a:prstGeom prst="hexagon">
            <a:avLst/>
          </a:prstGeom>
          <a:solidFill>
            <a:srgbClr val="0B5D7A">
              <a:alpha val="95000"/>
            </a:srgbClr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38944" y="2514600"/>
            <a:ext cx="731520" cy="777240"/>
          </a:xfrm>
          <a:prstGeom prst="arc">
            <a:avLst/>
          </a:prstGeom>
          <a:solidFill>
            <a:srgbClr val="FFFFFF">
              <a:alpha val="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10928" y="3072384"/>
            <a:ext cx="98755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13264" y="3319272"/>
            <a:ext cx="182880" cy="182880"/>
          </a:xfrm>
          <a:prstGeom prst="ellipse">
            <a:avLst/>
          </a:prstGeom>
          <a:solidFill>
            <a:srgbClr val="0B5D7A"/>
          </a:solidFill>
          <a:ln w="12700">
            <a:solidFill>
              <a:srgbClr val="0B5D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4617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D7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প্রশ্ন করুন: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B5D7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“কেন?”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মনে রাখি: ৭টি সাইবার নিরাপত্তা অভ্যাস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80744"/>
            <a:ext cx="408188" cy="408188"/>
          </a:xfrm>
          <a:prstGeom prst="ellipse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4189" y="1393911"/>
            <a:ext cx="302849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84" dirty="0"/>
          </a:p>
        </p:txBody>
      </p:sp>
      <p:sp>
        <p:nvSpPr>
          <p:cNvPr id="5" name="Text 3"/>
          <p:cNvSpPr/>
          <p:nvPr/>
        </p:nvSpPr>
        <p:spPr>
          <a:xfrm>
            <a:off x="1389888" y="13258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শক্তিশালী ও আলাদা পাসওয়ার্ড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1380744"/>
            <a:ext cx="408188" cy="408188"/>
          </a:xfrm>
          <a:prstGeom prst="ellipse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309" y="1393911"/>
            <a:ext cx="302849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6922008" y="13258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2FA চালু রাখা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496312"/>
            <a:ext cx="408188" cy="408188"/>
          </a:xfrm>
          <a:prstGeom prst="ellipse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4189" y="2509479"/>
            <a:ext cx="302849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84" dirty="0"/>
          </a:p>
        </p:txBody>
      </p:sp>
      <p:sp>
        <p:nvSpPr>
          <p:cNvPr id="11" name="Text 9"/>
          <p:cNvSpPr/>
          <p:nvPr/>
        </p:nvSpPr>
        <p:spPr>
          <a:xfrm>
            <a:off x="1389888" y="244144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অচেনা লিংকে ক্লিক না করা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63640" y="2496312"/>
            <a:ext cx="408188" cy="408188"/>
          </a:xfrm>
          <a:prstGeom prst="ellipse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6309" y="2509479"/>
            <a:ext cx="302849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84" dirty="0"/>
          </a:p>
        </p:txBody>
      </p:sp>
      <p:sp>
        <p:nvSpPr>
          <p:cNvPr id="14" name="Text 12"/>
          <p:cNvSpPr/>
          <p:nvPr/>
        </p:nvSpPr>
        <p:spPr>
          <a:xfrm>
            <a:off x="6922008" y="244144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ব্যক্তিগত তথ্য সীমিত রাখা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408188" cy="408188"/>
          </a:xfrm>
          <a:prstGeom prst="ellipse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4189" y="3625047"/>
            <a:ext cx="302849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84" dirty="0"/>
          </a:p>
        </p:txBody>
      </p:sp>
      <p:sp>
        <p:nvSpPr>
          <p:cNvPr id="17" name="Text 15"/>
          <p:cNvSpPr/>
          <p:nvPr/>
        </p:nvSpPr>
        <p:spPr>
          <a:xfrm>
            <a:off x="1389888" y="3557016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ডিভাইস ও অ্যাপ Update রাখা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408188" cy="408188"/>
          </a:xfrm>
          <a:prstGeom prst="ellipse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6309" y="3625047"/>
            <a:ext cx="302849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84" dirty="0"/>
          </a:p>
        </p:txBody>
      </p:sp>
      <p:sp>
        <p:nvSpPr>
          <p:cNvPr id="20" name="Text 18"/>
          <p:cNvSpPr/>
          <p:nvPr/>
        </p:nvSpPr>
        <p:spPr>
          <a:xfrm>
            <a:off x="6922008" y="3557016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ভুয়া খবর যাচাই করা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493008" y="4727448"/>
            <a:ext cx="408188" cy="408188"/>
          </a:xfrm>
          <a:prstGeom prst="ellipse">
            <a:avLst/>
          </a:prstGeom>
          <a:solidFill>
            <a:srgbClr val="1E8E6E"/>
          </a:solidFill>
          <a:ln w="12700">
            <a:solidFill>
              <a:srgbClr val="1E8E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5677" y="4740615"/>
            <a:ext cx="302849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84" dirty="0"/>
          </a:p>
        </p:txBody>
      </p:sp>
      <p:sp>
        <p:nvSpPr>
          <p:cNvPr id="23" name="Text 21"/>
          <p:cNvSpPr/>
          <p:nvPr/>
        </p:nvSpPr>
        <p:spPr>
          <a:xfrm>
            <a:off x="4151376" y="467258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সমস্যায় বিশ্বস্ত বড়দের জানানো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828800" y="5486400"/>
            <a:ext cx="8503920" cy="594360"/>
          </a:xfrm>
          <a:prstGeom prst="round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56418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সচেতন ব্যবহারকারীই সাইবার নিরাপত্তার সবচেয়ে শক্তিশালী প্রতিরক্ষা।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D8B"/>
                </a:solidFill>
                <a:latin typeface="Noto Sans Bengali"/>
                <a:ea typeface="Noto Sans Bengali"/>
                <a:cs typeface="Noto Sans Bengal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Bengal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Bengal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সাইবার নিরাপত্তা</dc:title>
  <dc:subject>দাখিল পর্যায়ের শিক্ষার্থীদের জন্য সাইবার নিরাপত্তা</dc:subject>
  <dc:creator>OpenAI</dc:creator>
  <cp:lastModifiedBy>OpenAI</cp:lastModifiedBy>
  <cp:revision>1</cp:revision>
  <dcterms:created xsi:type="dcterms:W3CDTF">2026-09-16T14:50:05Z</dcterms:created>
  <dcterms:modified xsi:type="dcterms:W3CDTF">2026-09-16T14:50:05Z</dcterms:modified>
</cp:coreProperties>
</file>